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9" r:id="rId5"/>
    <p:sldId id="268" r:id="rId6"/>
    <p:sldId id="270" r:id="rId7"/>
    <p:sldId id="276" r:id="rId8"/>
    <p:sldId id="277" r:id="rId9"/>
    <p:sldId id="275" r:id="rId10"/>
    <p:sldId id="262" r:id="rId11"/>
    <p:sldId id="261" r:id="rId12"/>
    <p:sldId id="265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423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pp.uc-reports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88952" cy="76200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5690" y="763399"/>
            <a:ext cx="108813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dirty="0">
                <a:solidFill>
                  <a:schemeClr val="bg1"/>
                </a:solidFill>
              </a:rPr>
              <a:t>Assistente de Apoio à Elaboração de Pareceres sobre Relatórios de Ciclos de Estudos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77626"/>
            <a:ext cx="10881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400" dirty="0">
                <a:solidFill>
                  <a:schemeClr val="bg1"/>
                </a:solidFill>
              </a:rPr>
              <a:t>https://ce.uc-reports.com/</a:t>
            </a:r>
            <a:endParaRPr sz="2200" b="0" i="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80A8D0"/>
                </a:solidFill>
              </a:rPr>
              <a:t>FEUP · </a:t>
            </a:r>
            <a:r>
              <a:rPr lang="pt-PT" sz="1600" b="0" i="0" dirty="0">
                <a:solidFill>
                  <a:srgbClr val="80A8D0"/>
                </a:solidFill>
              </a:rPr>
              <a:t>11 de m</a:t>
            </a:r>
            <a:r>
              <a:rPr sz="1600" b="0" i="0" dirty="0" err="1">
                <a:solidFill>
                  <a:srgbClr val="80A8D0"/>
                </a:solidFill>
              </a:rPr>
              <a:t>arço</a:t>
            </a:r>
            <a:r>
              <a:rPr sz="1600" b="0" i="0" dirty="0">
                <a:solidFill>
                  <a:srgbClr val="80A8D0"/>
                </a:solidFill>
              </a:rPr>
              <a:t> </a:t>
            </a:r>
            <a:r>
              <a:rPr lang="pt-PT" sz="1600" b="0" i="0" dirty="0">
                <a:solidFill>
                  <a:srgbClr val="80A8D0"/>
                </a:solidFill>
              </a:rPr>
              <a:t>de </a:t>
            </a:r>
            <a:r>
              <a:rPr sz="1600" b="0" i="0" dirty="0">
                <a:solidFill>
                  <a:srgbClr val="80A8D0"/>
                </a:solidFill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7315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B8CCE8"/>
                </a:solidFill>
              </a:rPr>
              <a:t>João Pascoal Faria
</a:t>
            </a:r>
            <a:r>
              <a:rPr lang="pt-PT" sz="1500" b="0" i="0" dirty="0">
                <a:solidFill>
                  <a:srgbClr val="B8CCE8"/>
                </a:solidFill>
              </a:rPr>
              <a:t>Pró-Diretor - Melhoria Contínua</a:t>
            </a:r>
            <a:endParaRPr sz="1500" b="0" i="0" dirty="0">
              <a:solidFill>
                <a:srgbClr val="B8CC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3000" b="1" i="0" dirty="0">
                <a:solidFill>
                  <a:srgbClr val="FFFFFF"/>
                </a:solidFill>
              </a:rPr>
              <a:t>Introdução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FEUP · Março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3472"/>
                </a:solidFill>
              </a:rPr>
              <a:t>O relatório anual de CE é obrigatório e sujeito a parecer dos órgãos de gestão da FEUP </a:t>
            </a:r>
            <a:br>
              <a:rPr lang="pt-PT" sz="2000" b="1" i="0" dirty="0">
                <a:solidFill>
                  <a:srgbClr val="003472"/>
                </a:solidFill>
              </a:rPr>
            </a:br>
            <a:r>
              <a:rPr sz="2000" b="1" i="0" dirty="0">
                <a:solidFill>
                  <a:srgbClr val="003472"/>
                </a:solidFill>
              </a:rPr>
              <a:t>(Conselho Científico, Conselho Pedagógico, </a:t>
            </a:r>
            <a:r>
              <a:rPr sz="2000" b="1" i="0" dirty="0" err="1">
                <a:solidFill>
                  <a:srgbClr val="003472"/>
                </a:solidFill>
              </a:rPr>
              <a:t>Comiss</a:t>
            </a:r>
            <a:r>
              <a:rPr lang="pt-PT" sz="2000" b="1" i="0" dirty="0" err="1">
                <a:solidFill>
                  <a:srgbClr val="003472"/>
                </a:solidFill>
              </a:rPr>
              <a:t>ões</a:t>
            </a:r>
            <a:r>
              <a:rPr sz="2000" b="1" i="0" dirty="0">
                <a:solidFill>
                  <a:srgbClr val="003472"/>
                </a:solidFill>
              </a:rPr>
              <a:t> de </a:t>
            </a:r>
            <a:r>
              <a:rPr sz="2000" b="1" i="0" dirty="0" err="1">
                <a:solidFill>
                  <a:srgbClr val="003472"/>
                </a:solidFill>
              </a:rPr>
              <a:t>Acompanhamento</a:t>
            </a:r>
            <a:r>
              <a:rPr sz="2000" b="1" i="0" dirty="0">
                <a:solidFill>
                  <a:srgbClr val="003472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47935"/>
            <a:ext cx="112471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000" dirty="0">
                <a:solidFill>
                  <a:srgbClr val="58595B"/>
                </a:solidFill>
              </a:rPr>
              <a:t>•  Processo manual e demorado: o responsável pelo parecer tem de ler o relatório (grande parte gerado automaticamente pelo SIGARRA), analisar a análise SWOT e propostas do DCE, e redigir o parecer</a:t>
            </a:r>
          </a:p>
          <a:p>
            <a:endParaRPr lang="pt-PT" sz="2000" dirty="0">
              <a:solidFill>
                <a:srgbClr val="58595B"/>
              </a:solidFill>
            </a:endParaRPr>
          </a:p>
          <a:p>
            <a:r>
              <a:rPr lang="pt-PT" sz="2000" dirty="0">
                <a:solidFill>
                  <a:srgbClr val="58595B"/>
                </a:solidFill>
              </a:rPr>
              <a:t>•  Volume elevado: dezenas de relatórios de </a:t>
            </a:r>
            <a:r>
              <a:rPr lang="pt-PT" sz="2000" dirty="0" err="1">
                <a:solidFill>
                  <a:srgbClr val="58595B"/>
                </a:solidFill>
              </a:rPr>
              <a:t>CEs</a:t>
            </a:r>
            <a:r>
              <a:rPr lang="pt-PT" sz="2000" dirty="0">
                <a:solidFill>
                  <a:srgbClr val="58595B"/>
                </a:solidFill>
              </a:rPr>
              <a:t> na FEUP, todos com prazo coincidente</a:t>
            </a:r>
          </a:p>
          <a:p>
            <a:endParaRPr lang="pt-PT" sz="2000" dirty="0">
              <a:solidFill>
                <a:srgbClr val="58595B"/>
              </a:solidFill>
            </a:endParaRPr>
          </a:p>
          <a:p>
            <a:r>
              <a:rPr lang="pt-PT" sz="2000" dirty="0">
                <a:solidFill>
                  <a:srgbClr val="58595B"/>
                </a:solidFill>
              </a:rPr>
              <a:t>•  Qualidade variável: pareceres genéricos ou sem sustentação nos dados comprometem o valor do processo de melhoria contínua</a:t>
            </a:r>
          </a:p>
          <a:p>
            <a:endParaRPr lang="pt-PT" sz="2000" dirty="0">
              <a:solidFill>
                <a:srgbClr val="58595B"/>
              </a:solidFill>
            </a:endParaRPr>
          </a:p>
          <a:p>
            <a:r>
              <a:rPr lang="pt-PT" sz="2000" dirty="0">
                <a:solidFill>
                  <a:srgbClr val="58595B"/>
                </a:solidFill>
              </a:rPr>
              <a:t>•  Oportunidade de melhoria: o parecer bem fundamentado é um instrumento de reflexão e melhoria para o Diretor do CE e para a instituição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11A6A-D2C6-FEEF-2CF6-4A3CDE6F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Assistant for the Development of Opinion Reports on Study Cycles&#10;&#10;Os conteúdos gerados por IA podem estar incorretos.">
            <a:extLst>
              <a:ext uri="{FF2B5EF4-FFF2-40B4-BE49-F238E27FC236}">
                <a16:creationId xmlns:a16="http://schemas.microsoft.com/office/drawing/2014/main" id="{B2E371CC-31F5-C59B-3594-4C937AE23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24" y="1800106"/>
            <a:ext cx="5558602" cy="27305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25DC33-A2D0-9C84-D079-1BD5BC768EDA}"/>
              </a:ext>
            </a:extLst>
          </p:cNvPr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CDF273-2A26-9F29-7E4F-947C793097F8}"/>
              </a:ext>
            </a:extLst>
          </p:cNvPr>
          <p:cNvSpPr txBox="1"/>
          <p:nvPr/>
        </p:nvSpPr>
        <p:spPr>
          <a:xfrm>
            <a:off x="457200" y="164592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3000" b="1" i="0" dirty="0">
                <a:solidFill>
                  <a:srgbClr val="FFFFFF"/>
                </a:solidFill>
              </a:rPr>
              <a:t>Utilização – Acesso e autenticação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E7793C-2780-E479-0A47-EC9F67DEE45D}"/>
              </a:ext>
            </a:extLst>
          </p:cNvPr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3D3BEC-954B-E874-4D48-1624F67A44BC}"/>
              </a:ext>
            </a:extLst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17ED01-4398-7F6A-73E8-F69CE5D2496D}"/>
              </a:ext>
            </a:extLst>
          </p:cNvPr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FEUP · Março 2026</a:t>
            </a:r>
          </a:p>
        </p:txBody>
      </p:sp>
      <p:pic>
        <p:nvPicPr>
          <p:cNvPr id="19" name="Imagem 18" descr="The image shows a login page for a federal authentication service with Portuguese language options for user authentication, including options to use a citizen card or digital mobile key.&#10;&#10;Os conteúdos gerados por IA podem estar incorretos.">
            <a:extLst>
              <a:ext uri="{FF2B5EF4-FFF2-40B4-BE49-F238E27FC236}">
                <a16:creationId xmlns:a16="http://schemas.microsoft.com/office/drawing/2014/main" id="{B5667F00-2D70-EC3A-E439-A8B605B3EE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33" t="12396" r="4879" b="2426"/>
          <a:stretch>
            <a:fillRect/>
          </a:stretch>
        </p:blipFill>
        <p:spPr>
          <a:xfrm>
            <a:off x="6719815" y="1746209"/>
            <a:ext cx="5330068" cy="4147425"/>
          </a:xfrm>
          <a:prstGeom prst="rect">
            <a:avLst/>
          </a:prstGeom>
        </p:spPr>
      </p:pic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F63FFED0-7FDB-AFCE-5C69-318DCD6F7E41}"/>
              </a:ext>
            </a:extLst>
          </p:cNvPr>
          <p:cNvCxnSpPr>
            <a:cxnSpLocks/>
          </p:cNvCxnSpPr>
          <p:nvPr/>
        </p:nvCxnSpPr>
        <p:spPr>
          <a:xfrm>
            <a:off x="2253554" y="3855687"/>
            <a:ext cx="4689987" cy="0"/>
          </a:xfrm>
          <a:prstGeom prst="straightConnector1">
            <a:avLst/>
          </a:prstGeom>
          <a:ln w="19050">
            <a:solidFill>
              <a:srgbClr val="00B0F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760C879-80FB-E329-DCEE-C08A21FF463E}"/>
              </a:ext>
            </a:extLst>
          </p:cNvPr>
          <p:cNvSpPr txBox="1"/>
          <p:nvPr/>
        </p:nvSpPr>
        <p:spPr>
          <a:xfrm>
            <a:off x="457200" y="838310"/>
            <a:ext cx="2811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https://ce.uc-reports.com/</a:t>
            </a:r>
            <a:r>
              <a:rPr lang="pt-PT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1571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4900F-EC63-E9D1-02B0-B55E6C5CA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The image shows a software interface with various options for generating a report on educational cycles, including a user profile for Ana Paula Rocha and a suggestion to use a free model for drafts and a specific software version for final reports.&#10;&#10;Os conteúdos gerados por IA podem estar incorretos.">
            <a:extLst>
              <a:ext uri="{FF2B5EF4-FFF2-40B4-BE49-F238E27FC236}">
                <a16:creationId xmlns:a16="http://schemas.microsoft.com/office/drawing/2014/main" id="{0BF7D22E-C043-0984-CE81-CB6075E54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160" y="1598724"/>
            <a:ext cx="6569684" cy="420360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1B2C7F-9FD4-97C4-BE6C-292EE941E8E2}"/>
              </a:ext>
            </a:extLst>
          </p:cNvPr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72F72-8634-CE01-1598-B0D86A6797D7}"/>
              </a:ext>
            </a:extLst>
          </p:cNvPr>
          <p:cNvSpPr txBox="1"/>
          <p:nvPr/>
        </p:nvSpPr>
        <p:spPr>
          <a:xfrm>
            <a:off x="457200" y="164592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3000" b="1" i="0" dirty="0">
                <a:solidFill>
                  <a:srgbClr val="FFFFFF"/>
                </a:solidFill>
              </a:rPr>
              <a:t>Utilização – Seleção de ciclo de estudos e órgão a dar parecer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AD7849-E095-CCAF-74B6-EF43DAF98C72}"/>
              </a:ext>
            </a:extLst>
          </p:cNvPr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8F636D-7145-FDFF-7180-2E923A8F43AF}"/>
              </a:ext>
            </a:extLst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87E30-653F-9688-6FAC-880A0595F27B}"/>
              </a:ext>
            </a:extLst>
          </p:cNvPr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FEUP · Março 2026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FE4A72A-7D2D-908D-CDD9-D4140639F664}"/>
              </a:ext>
            </a:extLst>
          </p:cNvPr>
          <p:cNvSpPr txBox="1"/>
          <p:nvPr/>
        </p:nvSpPr>
        <p:spPr>
          <a:xfrm>
            <a:off x="4344934" y="3924879"/>
            <a:ext cx="3555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>
                <a:solidFill>
                  <a:srgbClr val="00B0F0"/>
                </a:solidFill>
              </a:rPr>
              <a:t>ano mais recente (e anteriores com relatórios)</a:t>
            </a:r>
          </a:p>
        </p:txBody>
      </p: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916DA2CF-F496-6BD5-7492-A7AEE2CB083B}"/>
              </a:ext>
            </a:extLst>
          </p:cNvPr>
          <p:cNvCxnSpPr>
            <a:cxnSpLocks/>
          </p:cNvCxnSpPr>
          <p:nvPr/>
        </p:nvCxnSpPr>
        <p:spPr>
          <a:xfrm flipH="1">
            <a:off x="3906847" y="4100176"/>
            <a:ext cx="438087" cy="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1CA85B8-B1FB-17C5-4F43-B1FC46FA0238}"/>
              </a:ext>
            </a:extLst>
          </p:cNvPr>
          <p:cNvSpPr txBox="1"/>
          <p:nvPr/>
        </p:nvSpPr>
        <p:spPr>
          <a:xfrm>
            <a:off x="5375901" y="5259276"/>
            <a:ext cx="4734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rgbClr val="00B0F0"/>
                </a:solidFill>
              </a:rPr>
              <a:t>ou GPT-4o via </a:t>
            </a:r>
            <a:r>
              <a:rPr lang="pt-PT" sz="1400" dirty="0" err="1">
                <a:solidFill>
                  <a:srgbClr val="00B0F0"/>
                </a:solidFill>
              </a:rPr>
              <a:t>IAedu</a:t>
            </a:r>
            <a:r>
              <a:rPr lang="pt-PT" sz="1400" dirty="0">
                <a:solidFill>
                  <a:srgbClr val="00B0F0"/>
                </a:solidFill>
              </a:rPr>
              <a:t> (gratuito mas menos capaz)</a:t>
            </a:r>
          </a:p>
          <a:p>
            <a:r>
              <a:rPr lang="pt-PT" sz="1400" dirty="0">
                <a:solidFill>
                  <a:srgbClr val="00B0F0"/>
                </a:solidFill>
              </a:rPr>
              <a:t>ou outros modelos de </a:t>
            </a:r>
            <a:r>
              <a:rPr lang="pt-PT" sz="1400" dirty="0" err="1">
                <a:solidFill>
                  <a:srgbClr val="00B0F0"/>
                </a:solidFill>
              </a:rPr>
              <a:t>Anthropic</a:t>
            </a:r>
            <a:r>
              <a:rPr lang="pt-PT" sz="1400" dirty="0">
                <a:solidFill>
                  <a:srgbClr val="00B0F0"/>
                </a:solidFill>
              </a:rPr>
              <a:t> e </a:t>
            </a:r>
            <a:r>
              <a:rPr lang="pt-PT" sz="1400" dirty="0" err="1">
                <a:solidFill>
                  <a:srgbClr val="00B0F0"/>
                </a:solidFill>
              </a:rPr>
              <a:t>OpenAI</a:t>
            </a:r>
            <a:endParaRPr lang="pt-PT" sz="1400" dirty="0">
              <a:solidFill>
                <a:srgbClr val="00B0F0"/>
              </a:solidFill>
            </a:endParaRPr>
          </a:p>
        </p:txBody>
      </p:sp>
      <p:cxnSp>
        <p:nvCxnSpPr>
          <p:cNvPr id="19" name="Conexão reta unidirecional 18">
            <a:extLst>
              <a:ext uri="{FF2B5EF4-FFF2-40B4-BE49-F238E27FC236}">
                <a16:creationId xmlns:a16="http://schemas.microsoft.com/office/drawing/2014/main" id="{D3E15609-1665-D992-0295-BBB6477F05D1}"/>
              </a:ext>
            </a:extLst>
          </p:cNvPr>
          <p:cNvCxnSpPr/>
          <p:nvPr/>
        </p:nvCxnSpPr>
        <p:spPr>
          <a:xfrm flipH="1">
            <a:off x="3667468" y="2713738"/>
            <a:ext cx="613533" cy="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757055E1-FD87-8707-4EF4-3C6665708ED2}"/>
              </a:ext>
            </a:extLst>
          </p:cNvPr>
          <p:cNvSpPr txBox="1"/>
          <p:nvPr/>
        </p:nvSpPr>
        <p:spPr>
          <a:xfrm>
            <a:off x="4281001" y="2410172"/>
            <a:ext cx="78344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>
                <a:solidFill>
                  <a:srgbClr val="00B0F0"/>
                </a:solidFill>
              </a:rPr>
              <a:t>Esta demo foi efetuada com privilégios de administrador (docente já com acesso a consulta de relatórios).</a:t>
            </a:r>
            <a:br>
              <a:rPr lang="pt-PT" sz="1400" dirty="0">
                <a:solidFill>
                  <a:srgbClr val="00B0F0"/>
                </a:solidFill>
              </a:rPr>
            </a:br>
            <a:r>
              <a:rPr lang="pt-PT" sz="1400" dirty="0">
                <a:solidFill>
                  <a:srgbClr val="00B0F0"/>
                </a:solidFill>
              </a:rPr>
              <a:t>Utilizador normal (docente ou estudante) verá nome e órgãos a que está associado.</a:t>
            </a:r>
          </a:p>
        </p:txBody>
      </p:sp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EA41A44D-0179-3A90-283F-DC0BBAFF01DB}"/>
              </a:ext>
            </a:extLst>
          </p:cNvPr>
          <p:cNvCxnSpPr/>
          <p:nvPr/>
        </p:nvCxnSpPr>
        <p:spPr>
          <a:xfrm flipH="1">
            <a:off x="7227423" y="3700527"/>
            <a:ext cx="613533" cy="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1BE9B36-9746-8737-6111-D637430DBF23}"/>
              </a:ext>
            </a:extLst>
          </p:cNvPr>
          <p:cNvSpPr txBox="1"/>
          <p:nvPr/>
        </p:nvSpPr>
        <p:spPr>
          <a:xfrm>
            <a:off x="7920191" y="3175753"/>
            <a:ext cx="3384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rgbClr val="00B0F0"/>
                </a:solidFill>
              </a:rPr>
              <a:t>Lista com todos os cursos de licenciatura, mestrado e doutoramento, mas que apenas permite selecionar aqueles sobre cujo relatório o utilizador pode emitir parecer</a:t>
            </a:r>
          </a:p>
        </p:txBody>
      </p:sp>
      <p:cxnSp>
        <p:nvCxnSpPr>
          <p:cNvPr id="20" name="Conexão reta unidirecional 19">
            <a:extLst>
              <a:ext uri="{FF2B5EF4-FFF2-40B4-BE49-F238E27FC236}">
                <a16:creationId xmlns:a16="http://schemas.microsoft.com/office/drawing/2014/main" id="{7777F26A-C40D-04BE-380B-27AC110DD745}"/>
              </a:ext>
            </a:extLst>
          </p:cNvPr>
          <p:cNvCxnSpPr/>
          <p:nvPr/>
        </p:nvCxnSpPr>
        <p:spPr>
          <a:xfrm flipH="1">
            <a:off x="5214516" y="4486052"/>
            <a:ext cx="613533" cy="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61109B4-A1F3-04B9-883F-A22412FBAD80}"/>
              </a:ext>
            </a:extLst>
          </p:cNvPr>
          <p:cNvSpPr txBox="1"/>
          <p:nvPr/>
        </p:nvSpPr>
        <p:spPr>
          <a:xfrm>
            <a:off x="5855618" y="4294526"/>
            <a:ext cx="4656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rgbClr val="00B0F0"/>
                </a:solidFill>
              </a:rPr>
              <a:t>Perspetiva/órgão a dar parecer (CP, CC, CA), conforme permissões do utilizador e tipo de curso selecionado</a:t>
            </a:r>
          </a:p>
        </p:txBody>
      </p:sp>
      <p:cxnSp>
        <p:nvCxnSpPr>
          <p:cNvPr id="22" name="Conexão reta unidirecional 21">
            <a:extLst>
              <a:ext uri="{FF2B5EF4-FFF2-40B4-BE49-F238E27FC236}">
                <a16:creationId xmlns:a16="http://schemas.microsoft.com/office/drawing/2014/main" id="{85977E4D-8615-2071-8468-45DA048BE1BA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4858575" y="4903362"/>
            <a:ext cx="517326" cy="617524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721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261F-8B9A-27E7-9D2C-47F3AAD41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Assistente de Apoio ￃﾠ Elaboraￃﾧￃﾣo de Pareceres sobre Relatￃﾳrios de Ciclos de Estudos&#10;&#10;Os conteúdos gerados por IA podem estar incorretos.">
            <a:extLst>
              <a:ext uri="{FF2B5EF4-FFF2-40B4-BE49-F238E27FC236}">
                <a16:creationId xmlns:a16="http://schemas.microsoft.com/office/drawing/2014/main" id="{E5DCAD47-502D-DA74-3F86-51D70995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52" y="1526107"/>
            <a:ext cx="6472964" cy="43588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642F2D-0E98-F054-755B-5F3E2F26F1E6}"/>
              </a:ext>
            </a:extLst>
          </p:cNvPr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8185F-FCC6-8FA7-F4FB-43059C6DF869}"/>
              </a:ext>
            </a:extLst>
          </p:cNvPr>
          <p:cNvSpPr txBox="1"/>
          <p:nvPr/>
        </p:nvSpPr>
        <p:spPr>
          <a:xfrm>
            <a:off x="457200" y="164592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000" b="1" dirty="0">
                <a:solidFill>
                  <a:srgbClr val="FFFFFF"/>
                </a:solidFill>
              </a:rPr>
              <a:t>Utilização </a:t>
            </a:r>
            <a:r>
              <a:rPr lang="pt-PT" sz="3000" b="1" i="0" dirty="0">
                <a:solidFill>
                  <a:srgbClr val="FFFFFF"/>
                </a:solidFill>
              </a:rPr>
              <a:t>– Extração do relatório e análise com LLM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35264-D328-A93A-74DC-93B330B8A042}"/>
              </a:ext>
            </a:extLst>
          </p:cNvPr>
          <p:cNvSpPr/>
          <p:nvPr/>
        </p:nvSpPr>
        <p:spPr>
          <a:xfrm>
            <a:off x="-13716" y="1325880"/>
            <a:ext cx="12188952" cy="50800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6CAD6F-7A67-1377-73AE-A2F5D143446D}"/>
              </a:ext>
            </a:extLst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4258FE-2C13-043E-D360-5D9296F5F20C}"/>
              </a:ext>
            </a:extLst>
          </p:cNvPr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FEUP · Março 2026</a:t>
            </a:r>
          </a:p>
        </p:txBody>
      </p:sp>
      <p:cxnSp>
        <p:nvCxnSpPr>
          <p:cNvPr id="20" name="Conexão reta unidirecional 19">
            <a:extLst>
              <a:ext uri="{FF2B5EF4-FFF2-40B4-BE49-F238E27FC236}">
                <a16:creationId xmlns:a16="http://schemas.microsoft.com/office/drawing/2014/main" id="{02845ACB-F0ED-3928-E283-1E83E09252C8}"/>
              </a:ext>
            </a:extLst>
          </p:cNvPr>
          <p:cNvCxnSpPr>
            <a:cxnSpLocks/>
          </p:cNvCxnSpPr>
          <p:nvPr/>
        </p:nvCxnSpPr>
        <p:spPr>
          <a:xfrm flipH="1" flipV="1">
            <a:off x="3252564" y="3875250"/>
            <a:ext cx="533911" cy="273303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8846026-F5E7-9F54-454B-3F0046D3C1E2}"/>
              </a:ext>
            </a:extLst>
          </p:cNvPr>
          <p:cNvSpPr txBox="1"/>
          <p:nvPr/>
        </p:nvSpPr>
        <p:spPr>
          <a:xfrm>
            <a:off x="3519519" y="4184530"/>
            <a:ext cx="4092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rgbClr val="00B0F0"/>
                </a:solidFill>
              </a:rPr>
              <a:t>custo estimado de LLM</a:t>
            </a:r>
          </a:p>
          <a:p>
            <a:r>
              <a:rPr lang="pt-PT" sz="1600" dirty="0">
                <a:solidFill>
                  <a:srgbClr val="00B0F0"/>
                </a:solidFill>
              </a:rPr>
              <a:t>(suportado pela FEUP com limite por utilizador)</a:t>
            </a:r>
          </a:p>
        </p:txBody>
      </p: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6967A3C2-8A7A-960C-C69B-E89319DF6532}"/>
              </a:ext>
            </a:extLst>
          </p:cNvPr>
          <p:cNvCxnSpPr>
            <a:cxnSpLocks/>
          </p:cNvCxnSpPr>
          <p:nvPr/>
        </p:nvCxnSpPr>
        <p:spPr>
          <a:xfrm flipH="1">
            <a:off x="7488623" y="5586598"/>
            <a:ext cx="790072" cy="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9F8E599-92AC-4A70-CD72-D5F3187B8025}"/>
              </a:ext>
            </a:extLst>
          </p:cNvPr>
          <p:cNvSpPr txBox="1"/>
          <p:nvPr/>
        </p:nvSpPr>
        <p:spPr>
          <a:xfrm>
            <a:off x="8421278" y="5450158"/>
            <a:ext cx="3374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rgbClr val="00B0F0"/>
                </a:solidFill>
              </a:rPr>
              <a:t>relatório extraído, </a:t>
            </a:r>
            <a:r>
              <a:rPr lang="pt-PT" sz="1600" dirty="0" err="1">
                <a:solidFill>
                  <a:srgbClr val="00B0F0"/>
                </a:solidFill>
              </a:rPr>
              <a:t>prompts</a:t>
            </a:r>
            <a:r>
              <a:rPr lang="pt-PT" sz="1600" dirty="0">
                <a:solidFill>
                  <a:srgbClr val="00B0F0"/>
                </a:solidFill>
              </a:rPr>
              <a:t> , </a:t>
            </a:r>
            <a:r>
              <a:rPr lang="pt-PT" sz="1600" dirty="0" err="1">
                <a:solidFill>
                  <a:srgbClr val="00B0F0"/>
                </a:solidFill>
              </a:rPr>
              <a:t>logs</a:t>
            </a:r>
            <a:endParaRPr lang="pt-PT" sz="1600" dirty="0">
              <a:solidFill>
                <a:srgbClr val="00B0F0"/>
              </a:solidFill>
            </a:endParaRP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7F558B0D-9BB8-2364-D5FB-54697FFD395F}"/>
              </a:ext>
            </a:extLst>
          </p:cNvPr>
          <p:cNvCxnSpPr>
            <a:cxnSpLocks/>
          </p:cNvCxnSpPr>
          <p:nvPr/>
        </p:nvCxnSpPr>
        <p:spPr>
          <a:xfrm flipH="1">
            <a:off x="3786475" y="3344987"/>
            <a:ext cx="942314" cy="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FE75C0-6BBD-A742-828B-B8B8B6AC92F6}"/>
              </a:ext>
            </a:extLst>
          </p:cNvPr>
          <p:cNvSpPr txBox="1"/>
          <p:nvPr/>
        </p:nvSpPr>
        <p:spPr>
          <a:xfrm>
            <a:off x="4728788" y="3138451"/>
            <a:ext cx="6059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rgbClr val="00B0F0"/>
                </a:solidFill>
              </a:rPr>
              <a:t>Obtém relatório (modo impressão) e pareceres sobre relatório anterior</a:t>
            </a:r>
          </a:p>
        </p:txBody>
      </p: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52BB7195-B658-07A1-43AF-B1B8DB5CF54B}"/>
              </a:ext>
            </a:extLst>
          </p:cNvPr>
          <p:cNvCxnSpPr>
            <a:cxnSpLocks/>
          </p:cNvCxnSpPr>
          <p:nvPr/>
        </p:nvCxnSpPr>
        <p:spPr>
          <a:xfrm flipH="1">
            <a:off x="4668363" y="3723834"/>
            <a:ext cx="492781" cy="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47E4740-8657-0B04-DE23-E2BB44CA3FE2}"/>
              </a:ext>
            </a:extLst>
          </p:cNvPr>
          <p:cNvSpPr txBox="1"/>
          <p:nvPr/>
        </p:nvSpPr>
        <p:spPr>
          <a:xfrm>
            <a:off x="5161144" y="3494205"/>
            <a:ext cx="6059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rgbClr val="00B0F0"/>
                </a:solidFill>
              </a:rPr>
              <a:t>Análise guiada por </a:t>
            </a:r>
            <a:r>
              <a:rPr lang="pt-PT" sz="1600" dirty="0" err="1">
                <a:solidFill>
                  <a:srgbClr val="00B0F0"/>
                </a:solidFill>
              </a:rPr>
              <a:t>prompt</a:t>
            </a:r>
            <a:r>
              <a:rPr lang="pt-PT" sz="1600" dirty="0">
                <a:solidFill>
                  <a:srgbClr val="00B0F0"/>
                </a:solidFill>
              </a:rPr>
              <a:t> de sistema, </a:t>
            </a:r>
          </a:p>
          <a:p>
            <a:r>
              <a:rPr lang="pt-PT" sz="1600" dirty="0">
                <a:solidFill>
                  <a:srgbClr val="00B0F0"/>
                </a:solidFill>
              </a:rPr>
              <a:t>com algumas instruções diferenciadas por órgão emissor do parecer</a:t>
            </a:r>
          </a:p>
        </p:txBody>
      </p:sp>
    </p:spTree>
    <p:extLst>
      <p:ext uri="{BB962C8B-B14F-4D97-AF65-F5344CB8AC3E}">
        <p14:creationId xmlns:p14="http://schemas.microsoft.com/office/powerpoint/2010/main" val="3432675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09D9E-B119-9AF8-D380-6C659431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566AB9-707B-57CA-5C49-0349620B422C}"/>
              </a:ext>
            </a:extLst>
          </p:cNvPr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160B17-D645-6CF9-D9D5-952AFD0CB4E7}"/>
              </a:ext>
            </a:extLst>
          </p:cNvPr>
          <p:cNvSpPr txBox="1"/>
          <p:nvPr/>
        </p:nvSpPr>
        <p:spPr>
          <a:xfrm>
            <a:off x="457200" y="164592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000" b="1" dirty="0">
                <a:solidFill>
                  <a:srgbClr val="FFFFFF"/>
                </a:solidFill>
              </a:rPr>
              <a:t>Utilização </a:t>
            </a:r>
            <a:r>
              <a:rPr lang="pt-PT" sz="3000" b="1" i="0" dirty="0">
                <a:solidFill>
                  <a:srgbClr val="FFFFFF"/>
                </a:solidFill>
              </a:rPr>
              <a:t>– Revisão e exportação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5A33B-A18C-71BC-3B2A-BB36694B17B4}"/>
              </a:ext>
            </a:extLst>
          </p:cNvPr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7F2A9C-ED67-C4A3-BE71-4BAB6A7F66D8}"/>
              </a:ext>
            </a:extLst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5565F-553E-E768-89F4-BF1E6C247329}"/>
              </a:ext>
            </a:extLst>
          </p:cNvPr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FEUP · Março 2026</a:t>
            </a:r>
          </a:p>
        </p:txBody>
      </p:sp>
      <p:pic>
        <p:nvPicPr>
          <p:cNvPr id="9" name="Imagem 8" descr="The image is a document or webpage interface for a positive assessment report of the Master's in Software Engineering (MESW) program at FEUP for the academic year 2024/25, highlighting significant implementation of improvement proposals and enhancements such as increased course slots and alumni events.&#10;&#10;Os conteúdos gerados por IA podem estar incorretos.">
            <a:extLst>
              <a:ext uri="{FF2B5EF4-FFF2-40B4-BE49-F238E27FC236}">
                <a16:creationId xmlns:a16="http://schemas.microsoft.com/office/drawing/2014/main" id="{A059E14C-B6F9-20C4-A394-27BB20B47A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069"/>
          <a:stretch>
            <a:fillRect/>
          </a:stretch>
        </p:blipFill>
        <p:spPr>
          <a:xfrm>
            <a:off x="60965" y="1428029"/>
            <a:ext cx="6097961" cy="4591359"/>
          </a:xfrm>
          <a:prstGeom prst="rect">
            <a:avLst/>
          </a:prstGeom>
        </p:spPr>
      </p:pic>
      <p:pic>
        <p:nvPicPr>
          <p:cNvPr id="15" name="Imagem 14" descr="The image depicts a document containing recommendations for reducing student dropout rates and promoting gender balance, including conducting exit interviews and implementing partial measures.&#10;&#10;Os conteúdos gerados por IA podem estar incorretos.">
            <a:extLst>
              <a:ext uri="{FF2B5EF4-FFF2-40B4-BE49-F238E27FC236}">
                <a16:creationId xmlns:a16="http://schemas.microsoft.com/office/drawing/2014/main" id="{0C173452-A943-7CAE-3E48-0527E86AB7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"/>
          <a:stretch>
            <a:fillRect/>
          </a:stretch>
        </p:blipFill>
        <p:spPr>
          <a:xfrm>
            <a:off x="6294612" y="1555612"/>
            <a:ext cx="5833248" cy="450827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A6B8747-0B12-5FC0-E8D1-6448EA46F0FF}"/>
              </a:ext>
            </a:extLst>
          </p:cNvPr>
          <p:cNvSpPr txBox="1"/>
          <p:nvPr/>
        </p:nvSpPr>
        <p:spPr>
          <a:xfrm>
            <a:off x="7610169" y="5624222"/>
            <a:ext cx="2890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rgbClr val="00B0F0"/>
                </a:solidFill>
              </a:rPr>
              <a:t>Exportar em HTML (suportado pelo SIGARRA) ou copiar/colar</a:t>
            </a:r>
          </a:p>
        </p:txBody>
      </p: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55DC5C9F-207D-81FE-9A17-1541FAD6B3B6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4620086" y="3115681"/>
            <a:ext cx="913509" cy="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Imagem 18" descr="Guardar&#10;&#10;Os conteúdos gerados por IA podem estar incorretos.">
            <a:extLst>
              <a:ext uri="{FF2B5EF4-FFF2-40B4-BE49-F238E27FC236}">
                <a16:creationId xmlns:a16="http://schemas.microsoft.com/office/drawing/2014/main" id="{A3E3BA2C-830B-BA70-63E8-10C093C5A3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296" b="-1"/>
          <a:stretch>
            <a:fillRect/>
          </a:stretch>
        </p:blipFill>
        <p:spPr>
          <a:xfrm>
            <a:off x="2610296" y="3017519"/>
            <a:ext cx="2009790" cy="196323"/>
          </a:xfrm>
          <a:prstGeom prst="rect">
            <a:avLst/>
          </a:prstGeom>
        </p:spPr>
      </p:pic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6FCBAB59-81AB-7CCD-E984-2DC1B595EA4C}"/>
              </a:ext>
            </a:extLst>
          </p:cNvPr>
          <p:cNvCxnSpPr>
            <a:cxnSpLocks/>
          </p:cNvCxnSpPr>
          <p:nvPr/>
        </p:nvCxnSpPr>
        <p:spPr>
          <a:xfrm flipH="1">
            <a:off x="7138219" y="5882478"/>
            <a:ext cx="535951" cy="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931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C4377-AEF6-366F-FDDB-C855100C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D001AD-7359-BA47-AF6C-AF1CD71C646B}"/>
              </a:ext>
            </a:extLst>
          </p:cNvPr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2A27B8-4B54-E452-3DFB-6360C6F363C4}"/>
              </a:ext>
            </a:extLst>
          </p:cNvPr>
          <p:cNvSpPr txBox="1"/>
          <p:nvPr/>
        </p:nvSpPr>
        <p:spPr>
          <a:xfrm>
            <a:off x="457200" y="164592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3000" b="1" i="0" dirty="0">
                <a:solidFill>
                  <a:srgbClr val="FFFFFF"/>
                </a:solidFill>
              </a:rPr>
              <a:t>Perspetivas de estudantes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FF06A6-8D55-AC1A-EF53-B17B186FDBF9}"/>
              </a:ext>
            </a:extLst>
          </p:cNvPr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019A6C-D18C-38C2-D802-2DA4082055DC}"/>
              </a:ext>
            </a:extLst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133FEB-8DB0-A9D3-20CA-012D4B0F5B78}"/>
              </a:ext>
            </a:extLst>
          </p:cNvPr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FEUP · Março 2026</a:t>
            </a:r>
          </a:p>
        </p:txBody>
      </p:sp>
      <p:pic>
        <p:nvPicPr>
          <p:cNvPr id="14" name="Imagem 13" descr="The image shows a software interface with various options for generating a report on study cycles, including selecting the course, year, perspective, and model, with a note to use the free model for drafts and the final version.&#10;&#10;Os conteúdos gerados por IA podem estar incorretos.">
            <a:extLst>
              <a:ext uri="{FF2B5EF4-FFF2-40B4-BE49-F238E27FC236}">
                <a16:creationId xmlns:a16="http://schemas.microsoft.com/office/drawing/2014/main" id="{D97EC2CA-D0DC-F6D5-AC3C-7721A7FB7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16002"/>
            <a:ext cx="5504468" cy="3665318"/>
          </a:xfrm>
          <a:prstGeom prst="rect">
            <a:avLst/>
          </a:prstGeom>
        </p:spPr>
      </p:pic>
      <p:pic>
        <p:nvPicPr>
          <p:cNvPr id="23" name="Imagem 22" descr="The image is a software interface displaying a user interface for a document assistance tool specifically for drafting opinions on study cycles, with fields for inputting user details, study program, academic year, commission perspective, model, and suggesting the use of a free model for final drafting.&#10;&#10;Os conteúdos gerados por IA podem estar incorretos.">
            <a:extLst>
              <a:ext uri="{FF2B5EF4-FFF2-40B4-BE49-F238E27FC236}">
                <a16:creationId xmlns:a16="http://schemas.microsoft.com/office/drawing/2014/main" id="{A51732C2-E81D-3E89-1D3B-01F402BF2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784" y="1803384"/>
            <a:ext cx="5856264" cy="367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27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7204A-56E0-E07C-B495-F85CC6AA0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81526F-AC86-C2FD-A109-DEC6E6B766B8}"/>
              </a:ext>
            </a:extLst>
          </p:cNvPr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19B2D-BFB0-A8BF-7CFC-4666FCDB8F42}"/>
              </a:ext>
            </a:extLst>
          </p:cNvPr>
          <p:cNvSpPr txBox="1"/>
          <p:nvPr/>
        </p:nvSpPr>
        <p:spPr>
          <a:xfrm>
            <a:off x="457200" y="164592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3000" b="1" i="0" dirty="0">
                <a:solidFill>
                  <a:srgbClr val="FFFFFF"/>
                </a:solidFill>
              </a:rPr>
              <a:t>Perspetivas de docentes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08D6A9-EA3E-36C5-9CC7-44A8E7E47C09}"/>
              </a:ext>
            </a:extLst>
          </p:cNvPr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2F46FE-9FF6-0210-D456-AE0473CBEED1}"/>
              </a:ext>
            </a:extLst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676D7-64E5-0DE2-2909-004D8AD23FA6}"/>
              </a:ext>
            </a:extLst>
          </p:cNvPr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FEUP · Março 2026</a:t>
            </a:r>
          </a:p>
        </p:txBody>
      </p:sp>
      <p:pic>
        <p:nvPicPr>
          <p:cNvPr id="8" name="Imagem 7" descr="The image is a user interface for a software tool used by Antￃﾳnio Mendes Ferreira to generate a scientific council opinion on a master's degree in Software Engineering.&#10;&#10;Os conteúdos gerados por IA podem estar incorretos.">
            <a:extLst>
              <a:ext uri="{FF2B5EF4-FFF2-40B4-BE49-F238E27FC236}">
                <a16:creationId xmlns:a16="http://schemas.microsoft.com/office/drawing/2014/main" id="{DE52D8C3-B6DB-61CF-7F81-6FA96D509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03384"/>
            <a:ext cx="5643086" cy="3572920"/>
          </a:xfrm>
          <a:prstGeom prst="rect">
            <a:avLst/>
          </a:prstGeom>
        </p:spPr>
      </p:pic>
      <p:pic>
        <p:nvPicPr>
          <p:cNvPr id="10" name="Imagem 9" descr="The image shows a user interface for a software application, specifically the Assistente de Apoio ￃﾠ Elaboraￃﾧￃﾣo de Pareceres sobre Relatￃﾳrios de Ciclos de Estudos, with a focus on a mestrado in Software Engineering, featuring options for user roles, study cycles, and software model selection.&#10;&#10;Os conteúdos gerados por IA podem estar incorretos.">
            <a:extLst>
              <a:ext uri="{FF2B5EF4-FFF2-40B4-BE49-F238E27FC236}">
                <a16:creationId xmlns:a16="http://schemas.microsoft.com/office/drawing/2014/main" id="{0E83518B-FB7E-43A1-0799-C5F06DD9A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979" y="1803384"/>
            <a:ext cx="5751465" cy="362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617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ABAB-B3B9-0604-D97F-3F61CCAB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6F3730-F448-1533-7BD3-2CE275D348A6}"/>
              </a:ext>
            </a:extLst>
          </p:cNvPr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14085-4762-23A1-65D7-374D7303102A}"/>
              </a:ext>
            </a:extLst>
          </p:cNvPr>
          <p:cNvSpPr txBox="1"/>
          <p:nvPr/>
        </p:nvSpPr>
        <p:spPr>
          <a:xfrm>
            <a:off x="457200" y="164592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</a:rPr>
              <a:t>Análise</a:t>
            </a:r>
            <a:r>
              <a:rPr sz="3000" b="1" i="0" dirty="0">
                <a:solidFill>
                  <a:srgbClr val="FFFFFF"/>
                </a:solidFill>
              </a:rPr>
              <a:t> </a:t>
            </a:r>
            <a:r>
              <a:rPr sz="3000" b="1" i="0" dirty="0" err="1">
                <a:solidFill>
                  <a:srgbClr val="FFFFFF"/>
                </a:solidFill>
              </a:rPr>
              <a:t>por</a:t>
            </a:r>
            <a:r>
              <a:rPr sz="3000" b="1" i="0" dirty="0">
                <a:solidFill>
                  <a:srgbClr val="FFFFFF"/>
                </a:solidFill>
              </a:rPr>
              <a:t> IA — </a:t>
            </a:r>
            <a:r>
              <a:rPr lang="pt-PT" sz="3000" b="1" i="0" dirty="0">
                <a:solidFill>
                  <a:srgbClr val="FFFFFF"/>
                </a:solidFill>
              </a:rPr>
              <a:t>Instruções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D5A534-0D68-67E9-5ACC-B9BFC1D3F292}"/>
              </a:ext>
            </a:extLst>
          </p:cNvPr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15E5ED-34E9-9489-F6C1-E4711078FA5D}"/>
              </a:ext>
            </a:extLst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8273B-A3DC-7DAF-075E-0B556A1C6E4C}"/>
              </a:ext>
            </a:extLst>
          </p:cNvPr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FEUP · Março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17C03E-37AF-95EB-A709-753D40F07BB7}"/>
              </a:ext>
            </a:extLst>
          </p:cNvPr>
          <p:cNvSpPr/>
          <p:nvPr/>
        </p:nvSpPr>
        <p:spPr>
          <a:xfrm>
            <a:off x="365760" y="1598564"/>
            <a:ext cx="91440" cy="1235718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15410D-0C00-8E11-0C78-6DD2FA128428}"/>
              </a:ext>
            </a:extLst>
          </p:cNvPr>
          <p:cNvSpPr txBox="1"/>
          <p:nvPr/>
        </p:nvSpPr>
        <p:spPr>
          <a:xfrm>
            <a:off x="548640" y="1490362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1600" b="1" i="0" noProof="0" dirty="0">
                <a:solidFill>
                  <a:srgbClr val="003472"/>
                </a:solidFill>
              </a:rPr>
              <a:t>a)  Input para o LLM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424375-B441-DBA6-6CB7-0C25BF0C8EDF}"/>
              </a:ext>
            </a:extLst>
          </p:cNvPr>
          <p:cNvSpPr txBox="1"/>
          <p:nvPr/>
        </p:nvSpPr>
        <p:spPr>
          <a:xfrm>
            <a:off x="548640" y="1808212"/>
            <a:ext cx="110140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58595B"/>
                </a:solidFill>
              </a:rPr>
              <a:t>Pedido de elaboração de parecer, identificando o CE e o ano letivo.</a:t>
            </a:r>
          </a:p>
          <a:p>
            <a:r>
              <a:rPr lang="pt-PT" sz="1400" dirty="0">
                <a:solidFill>
                  <a:srgbClr val="58595B"/>
                </a:solidFill>
              </a:rPr>
              <a:t>HTML do relatório atual extraído do SIGARRA.</a:t>
            </a:r>
          </a:p>
          <a:p>
            <a:r>
              <a:rPr lang="pt-PT" sz="1400" dirty="0">
                <a:solidFill>
                  <a:srgbClr val="58595B"/>
                </a:solidFill>
              </a:rPr>
              <a:t>Opcionalmente: pareceres emitidos sobre o relatório do ano letivo anterior.</a:t>
            </a:r>
          </a:p>
          <a:p>
            <a:r>
              <a:rPr lang="pt-PT" sz="1400" dirty="0">
                <a:solidFill>
                  <a:srgbClr val="58595B"/>
                </a:solidFill>
              </a:rPr>
              <a:t>Opcionalmente: perspetiva do órgão emissor (CC, CP, CA ou DCE — </a:t>
            </a:r>
            <a:r>
              <a:rPr lang="pt-PT" sz="1400" dirty="0" err="1">
                <a:solidFill>
                  <a:srgbClr val="58595B"/>
                </a:solidFill>
              </a:rPr>
              <a:t>auto-avaliação</a:t>
            </a:r>
            <a:r>
              <a:rPr lang="pt-PT" sz="1400" dirty="0">
                <a:solidFill>
                  <a:srgbClr val="58595B"/>
                </a:solidFill>
              </a:rPr>
              <a:t>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D2DDC3-0E3F-5A6B-452A-3537B6AB2EC0}"/>
              </a:ext>
            </a:extLst>
          </p:cNvPr>
          <p:cNvSpPr/>
          <p:nvPr/>
        </p:nvSpPr>
        <p:spPr>
          <a:xfrm>
            <a:off x="365760" y="3170789"/>
            <a:ext cx="91440" cy="1205759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14E562-06A0-12A1-EAF1-D997ECA28154}"/>
              </a:ext>
            </a:extLst>
          </p:cNvPr>
          <p:cNvSpPr txBox="1"/>
          <p:nvPr/>
        </p:nvSpPr>
        <p:spPr>
          <a:xfrm>
            <a:off x="548640" y="30941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1600" b="1" i="0" noProof="0" dirty="0">
                <a:solidFill>
                  <a:srgbClr val="003472"/>
                </a:solidFill>
              </a:rPr>
              <a:t>b)  Análise interna do LLM (não incluída no output)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EAE74-991E-F22C-D50C-073E1C3B2BBC}"/>
              </a:ext>
            </a:extLst>
          </p:cNvPr>
          <p:cNvSpPr txBox="1"/>
          <p:nvPr/>
        </p:nvSpPr>
        <p:spPr>
          <a:xfrm>
            <a:off x="548640" y="3384645"/>
            <a:ext cx="106306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58595B"/>
                </a:solidFill>
              </a:rPr>
              <a:t>Extração dos indicadores-chave do CE: inscritos, abandono, aprovação, eficiência formativa, diplomados, internacionalização, corpo docente, inquéritos pedagógicos.</a:t>
            </a:r>
          </a:p>
          <a:p>
            <a:r>
              <a:rPr lang="pt-PT" sz="1400" dirty="0">
                <a:solidFill>
                  <a:srgbClr val="58595B"/>
                </a:solidFill>
              </a:rPr>
              <a:t>Construção de uma análise SWOT própria com base nos dados; comparação com a SWOT do DCE: coerência, omissões, afirmações sem suporte.</a:t>
            </a:r>
          </a:p>
          <a:p>
            <a:r>
              <a:rPr lang="pt-PT" sz="1400" dirty="0">
                <a:solidFill>
                  <a:srgbClr val="58595B"/>
                </a:solidFill>
              </a:rPr>
              <a:t>Verificação se as recomendações dos pareceres do ano anterior foram atendidas.</a:t>
            </a:r>
          </a:p>
          <a:p>
            <a:r>
              <a:rPr lang="pt-PT" sz="1400" dirty="0">
                <a:solidFill>
                  <a:srgbClr val="58595B"/>
                </a:solidFill>
              </a:rPr>
              <a:t>Identificação de tendências relevantes nos dados (melhoria ou deterioração face a anos anteriores).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2FCB1D-5762-EA48-EE2C-E4A78E7E1B66}"/>
              </a:ext>
            </a:extLst>
          </p:cNvPr>
          <p:cNvSpPr/>
          <p:nvPr/>
        </p:nvSpPr>
        <p:spPr>
          <a:xfrm>
            <a:off x="365760" y="4744568"/>
            <a:ext cx="91440" cy="1235718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E48728-30E7-1226-502B-A1817C8F1BD2}"/>
              </a:ext>
            </a:extLst>
          </p:cNvPr>
          <p:cNvSpPr txBox="1"/>
          <p:nvPr/>
        </p:nvSpPr>
        <p:spPr>
          <a:xfrm>
            <a:off x="548640" y="46676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1600" b="1" i="0" noProof="0" dirty="0">
                <a:solidFill>
                  <a:srgbClr val="003472"/>
                </a:solidFill>
              </a:rPr>
              <a:t>c)  Output: parecer estruturado em HTML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1E5848-5904-ED60-4B13-6D95EDDA646E}"/>
              </a:ext>
            </a:extLst>
          </p:cNvPr>
          <p:cNvSpPr txBox="1"/>
          <p:nvPr/>
        </p:nvSpPr>
        <p:spPr>
          <a:xfrm>
            <a:off x="548639" y="4946785"/>
            <a:ext cx="1124712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58595B"/>
                </a:solidFill>
              </a:rPr>
              <a:t>Frase introdutória: identificação do CE e ano letivo, apreciação global sintética.</a:t>
            </a:r>
          </a:p>
          <a:p>
            <a:r>
              <a:rPr lang="pt-PT" sz="1400" dirty="0">
                <a:solidFill>
                  <a:srgbClr val="58595B"/>
                </a:solidFill>
              </a:rPr>
              <a:t>Aspetos positivos do relatório: o que o DCE fez bem na análise SWOT e propostas (2–4 pontos); sugestões anteriores atendidas contam ponto positivo.</a:t>
            </a:r>
          </a:p>
          <a:p>
            <a:r>
              <a:rPr lang="pt-PT" sz="1400" dirty="0">
                <a:solidFill>
                  <a:srgbClr val="58595B"/>
                </a:solidFill>
              </a:rPr>
              <a:t>Sugestões e recomendações: omissões, incoerências, propostas insuficientes, questões recorrentes (2–6 pontos).</a:t>
            </a:r>
          </a:p>
          <a:p>
            <a:r>
              <a:rPr lang="pt-PT" sz="1400" dirty="0">
                <a:solidFill>
                  <a:srgbClr val="58595B"/>
                </a:solidFill>
              </a:rPr>
              <a:t>Conclusão: apreciação final (favorável / com reservas / desfavorável). </a:t>
            </a:r>
            <a:br>
              <a:rPr lang="pt-PT" sz="1400" dirty="0">
                <a:solidFill>
                  <a:srgbClr val="58595B"/>
                </a:solidFill>
              </a:rPr>
            </a:br>
            <a:r>
              <a:rPr lang="pt-PT" sz="1400" dirty="0">
                <a:solidFill>
                  <a:srgbClr val="58595B"/>
                </a:solidFill>
              </a:rPr>
              <a:t>Foco diferenciado por perspetiva: CC → qualidade científica/docentes/plano; CP → desempenho pedagógico/inquéritos/abandono; CA → doutorandos.</a:t>
            </a:r>
          </a:p>
        </p:txBody>
      </p:sp>
    </p:spTree>
    <p:extLst>
      <p:ext uri="{BB962C8B-B14F-4D97-AF65-F5344CB8AC3E}">
        <p14:creationId xmlns:p14="http://schemas.microsoft.com/office/powerpoint/2010/main" val="1359553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Privacidade e Conformidade RGPD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FEUP · Março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394960" cy="1886319"/>
          </a:xfrm>
          <a:prstGeom prst="rect">
            <a:avLst/>
          </a:prstGeom>
          <a:solidFill>
            <a:srgbClr val="F2F2F2"/>
          </a:solidFill>
          <a:ln w="25400">
            <a:solidFill>
              <a:srgbClr val="003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128016" cy="1886319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472"/>
                </a:solidFill>
              </a:rPr>
              <a:t>Credenciais nunca armazenadas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5740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1300" b="0" i="0" noProof="0" dirty="0">
                <a:solidFill>
                  <a:srgbClr val="58595B"/>
                </a:solidFill>
              </a:rPr>
              <a:t>As credenciais SIGARRA do docente são usadas apenas para autenticação no momento do acesso. Não são guardadas em base de dados nem em ficheiros de log.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508760"/>
            <a:ext cx="5394960" cy="1851152"/>
          </a:xfrm>
          <a:prstGeom prst="rect">
            <a:avLst/>
          </a:prstGeom>
          <a:solidFill>
            <a:srgbClr val="F2F2F2"/>
          </a:solidFill>
          <a:ln w="25400">
            <a:solidFill>
              <a:srgbClr val="28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5352" y="1508760"/>
            <a:ext cx="128016" cy="1851152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6AC8"/>
                </a:solidFill>
              </a:rPr>
              <a:t>Dados enviados para LLM como subprocessadores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1300" b="0" i="0" noProof="0" dirty="0">
                <a:solidFill>
                  <a:srgbClr val="58595B"/>
                </a:solidFill>
              </a:rPr>
              <a:t>Os dados dos relatórios são processados pelos fornecedores de LLM (</a:t>
            </a:r>
            <a:r>
              <a:rPr lang="pt-PT" sz="1300" b="0" i="0" noProof="0" dirty="0" err="1">
                <a:solidFill>
                  <a:srgbClr val="58595B"/>
                </a:solidFill>
              </a:rPr>
              <a:t>Anthropic</a:t>
            </a:r>
            <a:r>
              <a:rPr lang="pt-PT" sz="1300" b="0" i="0" noProof="0" dirty="0">
                <a:solidFill>
                  <a:srgbClr val="58595B"/>
                </a:solidFill>
              </a:rPr>
              <a:t> e </a:t>
            </a:r>
            <a:r>
              <a:rPr lang="pt-PT" sz="1300" b="0" i="0" noProof="0" dirty="0" err="1">
                <a:solidFill>
                  <a:srgbClr val="58595B"/>
                </a:solidFill>
              </a:rPr>
              <a:t>OpenAI</a:t>
            </a:r>
            <a:r>
              <a:rPr lang="pt-PT" sz="1300" b="0" i="0" noProof="0" dirty="0">
                <a:solidFill>
                  <a:srgbClr val="58595B"/>
                </a:solidFill>
              </a:rPr>
              <a:t>) em conformidade com os respetivos DPA (Data </a:t>
            </a:r>
            <a:r>
              <a:rPr lang="pt-PT" sz="1300" b="0" i="0" noProof="0" dirty="0" err="1">
                <a:solidFill>
                  <a:srgbClr val="58595B"/>
                </a:solidFill>
              </a:rPr>
              <a:t>Processing</a:t>
            </a:r>
            <a:r>
              <a:rPr lang="pt-PT" sz="1300" b="0" i="0" noProof="0" dirty="0">
                <a:solidFill>
                  <a:srgbClr val="58595B"/>
                </a:solidFill>
              </a:rPr>
              <a:t> </a:t>
            </a:r>
            <a:r>
              <a:rPr lang="pt-PT" sz="1300" b="0" i="0" noProof="0" dirty="0" err="1">
                <a:solidFill>
                  <a:srgbClr val="58595B"/>
                </a:solidFill>
              </a:rPr>
              <a:t>Addendum</a:t>
            </a:r>
            <a:r>
              <a:rPr lang="pt-PT" sz="1300" b="0" i="0" noProof="0" dirty="0">
                <a:solidFill>
                  <a:srgbClr val="58595B"/>
                </a:solidFill>
              </a:rPr>
              <a:t>). Retenção de 30 dias; dados não usados para treino.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30681"/>
            <a:ext cx="5394960" cy="1886319"/>
          </a:xfrm>
          <a:prstGeom prst="rect">
            <a:avLst/>
          </a:prstGeom>
          <a:solidFill>
            <a:srgbClr val="F2F2F2"/>
          </a:solidFill>
          <a:ln w="2540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530681"/>
            <a:ext cx="109728" cy="1886319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66784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7A3C"/>
                </a:solidFill>
              </a:rPr>
              <a:t>IAEDU — alternativa gratuita e institucional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079321"/>
            <a:ext cx="51206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1300" b="0" i="0" noProof="0" dirty="0">
                <a:solidFill>
                  <a:srgbClr val="58595B"/>
                </a:solidFill>
              </a:rPr>
              <a:t>A ferramenta suporta o serviço IAEDU da FCT/FCCN (acesso gratuito para a comunidade do ensino superior português), que mantém os dados em infraestrutura Microsoft </a:t>
            </a:r>
            <a:r>
              <a:rPr lang="pt-PT" sz="1300" b="0" i="0" noProof="0" dirty="0" err="1">
                <a:solidFill>
                  <a:srgbClr val="58595B"/>
                </a:solidFill>
              </a:rPr>
              <a:t>Azure</a:t>
            </a:r>
            <a:r>
              <a:rPr lang="pt-PT" sz="1300" b="0" i="0" noProof="0" dirty="0">
                <a:solidFill>
                  <a:srgbClr val="58595B"/>
                </a:solidFill>
              </a:rPr>
              <a:t> AI </a:t>
            </a:r>
            <a:r>
              <a:rPr lang="pt-PT" sz="1300" b="0" i="0" noProof="0" dirty="0" err="1">
                <a:solidFill>
                  <a:srgbClr val="58595B"/>
                </a:solidFill>
              </a:rPr>
              <a:t>Foundry</a:t>
            </a:r>
            <a:r>
              <a:rPr lang="pt-PT" sz="1300" b="0" i="0" noProof="0" dirty="0">
                <a:solidFill>
                  <a:srgbClr val="58595B"/>
                </a:solidFill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3530681"/>
            <a:ext cx="5394960" cy="1886319"/>
          </a:xfrm>
          <a:prstGeom prst="rect">
            <a:avLst/>
          </a:prstGeom>
          <a:solidFill>
            <a:srgbClr val="F2F2F2"/>
          </a:solidFill>
          <a:ln w="25400"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45352" y="3530681"/>
            <a:ext cx="128016" cy="1886319"/>
          </a:xfrm>
          <a:prstGeom prst="rect">
            <a:avLst/>
          </a:prstGeom>
          <a:solidFill>
            <a:srgbClr val="585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66784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58595B"/>
                </a:solidFill>
              </a:rPr>
              <a:t>Dados </a:t>
            </a:r>
            <a:r>
              <a:rPr sz="1400" b="1" i="0" dirty="0" err="1">
                <a:solidFill>
                  <a:srgbClr val="58595B"/>
                </a:solidFill>
              </a:rPr>
              <a:t>temporários</a:t>
            </a:r>
            <a:r>
              <a:rPr sz="1400" b="1" i="0" dirty="0">
                <a:solidFill>
                  <a:srgbClr val="58595B"/>
                </a:solidFill>
              </a:rPr>
              <a:t> no </a:t>
            </a:r>
            <a:r>
              <a:rPr sz="1400" b="1" i="0" dirty="0" err="1">
                <a:solidFill>
                  <a:srgbClr val="58595B"/>
                </a:solidFill>
              </a:rPr>
              <a:t>servidor</a:t>
            </a:r>
            <a:endParaRPr sz="1400" b="1" i="0" dirty="0">
              <a:solidFill>
                <a:srgbClr val="58595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4079321"/>
            <a:ext cx="51206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1300" b="0" i="0" noProof="0" dirty="0">
                <a:solidFill>
                  <a:srgbClr val="58595B"/>
                </a:solidFill>
              </a:rPr>
              <a:t>Ficheiros de output (</a:t>
            </a:r>
            <a:r>
              <a:rPr lang="pt-PT" sz="1300" b="0" i="0" noProof="0" dirty="0" err="1">
                <a:solidFill>
                  <a:srgbClr val="58595B"/>
                </a:solidFill>
              </a:rPr>
              <a:t>logs</a:t>
            </a:r>
            <a:r>
              <a:rPr lang="pt-PT" sz="1300" b="0" i="0" noProof="0" dirty="0">
                <a:solidFill>
                  <a:srgbClr val="58595B"/>
                </a:solidFill>
              </a:rPr>
              <a:t>, </a:t>
            </a:r>
            <a:r>
              <a:rPr lang="pt-PT" sz="1300" b="0" i="0" noProof="0" dirty="0" err="1">
                <a:solidFill>
                  <a:srgbClr val="58595B"/>
                </a:solidFill>
              </a:rPr>
              <a:t>PDFs</a:t>
            </a:r>
            <a:r>
              <a:rPr lang="pt-PT" sz="1300" b="0" i="0" noProof="0" dirty="0">
                <a:solidFill>
                  <a:srgbClr val="58595B"/>
                </a:solidFill>
              </a:rPr>
              <a:t>, relatórios) são eliminados automaticamente após 2 horas. O código-fonte é público e </a:t>
            </a:r>
            <a:r>
              <a:rPr lang="pt-PT" sz="1300" b="0" i="0" noProof="0" dirty="0" err="1">
                <a:solidFill>
                  <a:srgbClr val="58595B"/>
                </a:solidFill>
              </a:rPr>
              <a:t>auditável</a:t>
            </a:r>
            <a:r>
              <a:rPr lang="pt-PT" sz="1300" b="0" i="0" noProof="0" dirty="0">
                <a:solidFill>
                  <a:srgbClr val="58595B"/>
                </a:solidFill>
              </a:rPr>
              <a:t> em github.com/</a:t>
            </a:r>
            <a:r>
              <a:rPr lang="pt-PT" sz="1300" b="0" i="0" noProof="0" dirty="0" err="1">
                <a:solidFill>
                  <a:srgbClr val="58595B"/>
                </a:solidFill>
              </a:rPr>
              <a:t>joaopascoalfariafeup</a:t>
            </a:r>
            <a:r>
              <a:rPr lang="pt-PT" sz="1300" b="0" i="0" noProof="0" dirty="0">
                <a:solidFill>
                  <a:srgbClr val="58595B"/>
                </a:solidFill>
              </a:rPr>
              <a:t>/</a:t>
            </a:r>
            <a:r>
              <a:rPr lang="pt-PT" sz="1300" b="0" i="0" noProof="0" dirty="0" err="1">
                <a:solidFill>
                  <a:srgbClr val="58595B"/>
                </a:solidFill>
              </a:rPr>
              <a:t>cereports</a:t>
            </a:r>
            <a:r>
              <a:rPr lang="pt-PT" sz="1300" b="0" i="0" noProof="0" dirty="0">
                <a:solidFill>
                  <a:srgbClr val="58595B"/>
                </a:solidFill>
              </a:rPr>
              <a:t>.</a:t>
            </a:r>
          </a:p>
          <a:p>
            <a:pPr algn="l"/>
            <a:r>
              <a:rPr lang="pt-PT" sz="1300" noProof="0" dirty="0">
                <a:solidFill>
                  <a:srgbClr val="58595B"/>
                </a:solidFill>
              </a:rPr>
              <a:t>Servidor em máquina virtual da </a:t>
            </a:r>
            <a:r>
              <a:rPr lang="pt-PT" sz="1300" noProof="0" dirty="0" err="1">
                <a:solidFill>
                  <a:srgbClr val="58595B"/>
                </a:solidFill>
              </a:rPr>
              <a:t>Updigital</a:t>
            </a:r>
            <a:r>
              <a:rPr lang="pt-PT" sz="1300" noProof="0" dirty="0">
                <a:solidFill>
                  <a:srgbClr val="58595B"/>
                </a:solidFill>
              </a:rPr>
              <a:t> (coursemonitoring.fe.up.pt).</a:t>
            </a:r>
            <a:endParaRPr lang="pt-PT" sz="1300" b="0" i="0" noProof="0" dirty="0">
              <a:solidFill>
                <a:srgbClr val="58595B"/>
              </a:solidFill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B12C1F0B-01C5-8AC7-5B61-1444FA62CC3A}"/>
              </a:ext>
            </a:extLst>
          </p:cNvPr>
          <p:cNvSpPr txBox="1"/>
          <p:nvPr/>
        </p:nvSpPr>
        <p:spPr>
          <a:xfrm>
            <a:off x="566928" y="5677781"/>
            <a:ext cx="109197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1600" b="1" i="0" dirty="0">
                <a:solidFill>
                  <a:srgbClr val="58595B"/>
                </a:solidFill>
              </a:rPr>
              <a:t>Espera em curso processo de validação pela Encarregada de Proteção de Dados (DPO) da </a:t>
            </a:r>
            <a:r>
              <a:rPr lang="pt-PT" sz="1600" b="1" i="0" dirty="0" err="1">
                <a:solidFill>
                  <a:srgbClr val="58595B"/>
                </a:solidFill>
              </a:rPr>
              <a:t>U.Porto</a:t>
            </a:r>
            <a:r>
              <a:rPr lang="pt-PT" sz="1600" b="1" i="0" dirty="0">
                <a:solidFill>
                  <a:srgbClr val="58595B"/>
                </a:solidFill>
              </a:rPr>
              <a:t> em articulação com </a:t>
            </a:r>
            <a:r>
              <a:rPr lang="pt-PT" sz="1600" b="1" i="0" dirty="0" err="1">
                <a:solidFill>
                  <a:srgbClr val="58595B"/>
                </a:solidFill>
              </a:rPr>
              <a:t>UPdigital</a:t>
            </a:r>
            <a:r>
              <a:rPr lang="pt-PT" sz="1600" b="1" i="0" dirty="0">
                <a:solidFill>
                  <a:srgbClr val="58595B"/>
                </a:solidFill>
              </a:rPr>
              <a:t>.</a:t>
            </a:r>
            <a:endParaRPr sz="1600" b="1" i="0" dirty="0">
              <a:solidFill>
                <a:srgbClr val="58595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3000" b="1" i="0" dirty="0">
                <a:solidFill>
                  <a:srgbClr val="FFFFFF"/>
                </a:solidFill>
              </a:rPr>
              <a:t>Benefícios e próximos passos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12188952" cy="50800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FEUP · Março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064" y="1508760"/>
            <a:ext cx="5486400" cy="4892040"/>
          </a:xfrm>
          <a:prstGeom prst="rect">
            <a:avLst/>
          </a:prstGeom>
          <a:solidFill>
            <a:srgbClr val="E8F4EC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5944" y="1645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17A3C"/>
                </a:solidFill>
              </a:rPr>
              <a:t>Valor para o </a:t>
            </a:r>
            <a:r>
              <a:rPr sz="1500" b="1" i="0" dirty="0" err="1">
                <a:solidFill>
                  <a:srgbClr val="217A3C"/>
                </a:solidFill>
              </a:rPr>
              <a:t>docente</a:t>
            </a:r>
            <a:endParaRPr sz="1500" b="1" i="0" dirty="0">
              <a:solidFill>
                <a:srgbClr val="217A3C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5944" y="2057400"/>
            <a:ext cx="5169556" cy="167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400" dirty="0">
                <a:solidFill>
                  <a:srgbClr val="58595B"/>
                </a:solidFill>
              </a:rPr>
              <a:t>•  Cobertura sistemática de todos os aspetos relevantes do relatório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solidFill>
                  <a:srgbClr val="58595B"/>
                </a:solidFill>
              </a:rPr>
              <a:t>•  Linguagem profissional e estrutura consistente entre pareceres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solidFill>
                  <a:srgbClr val="58595B"/>
                </a:solidFill>
              </a:rPr>
              <a:t>•  Apoio à função de acompanhamento e melhoria contínua dos </a:t>
            </a:r>
            <a:r>
              <a:rPr lang="pt-PT" sz="1400" dirty="0" err="1">
                <a:solidFill>
                  <a:srgbClr val="58595B"/>
                </a:solidFill>
              </a:rPr>
              <a:t>CEs</a:t>
            </a:r>
            <a:endParaRPr lang="pt-PT" sz="1400" dirty="0">
              <a:solidFill>
                <a:srgbClr val="58595B"/>
              </a:solidFill>
            </a:endParaRPr>
          </a:p>
          <a:p>
            <a:pPr>
              <a:lnSpc>
                <a:spcPct val="150000"/>
              </a:lnSpc>
            </a:pPr>
            <a:r>
              <a:rPr lang="pt-PT" sz="1400" dirty="0">
                <a:solidFill>
                  <a:srgbClr val="58595B"/>
                </a:solidFill>
              </a:rPr>
              <a:t>•  Redução do tempo de elaboração do parecer </a:t>
            </a:r>
            <a:br>
              <a:rPr lang="pt-PT" sz="1400" dirty="0">
                <a:solidFill>
                  <a:srgbClr val="58595B"/>
                </a:solidFill>
              </a:rPr>
            </a:br>
            <a:r>
              <a:rPr lang="pt-PT" sz="1400" dirty="0">
                <a:solidFill>
                  <a:srgbClr val="58595B"/>
                </a:solidFill>
              </a:rPr>
              <a:t>   (assistente funciona como apoio de “secretariado”)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944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472"/>
                </a:solidFill>
              </a:rPr>
              <a:t>Valor para a instituição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944" y="4389120"/>
            <a:ext cx="5258456" cy="135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400" dirty="0">
                <a:solidFill>
                  <a:srgbClr val="58595B"/>
                </a:solidFill>
              </a:rPr>
              <a:t>•  Qualidade e uniformidade dos pareceres à escala da FEUP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solidFill>
                  <a:srgbClr val="58595B"/>
                </a:solidFill>
              </a:rPr>
              <a:t>•  Apoio à função de controlo e melhoria da qualidade dos </a:t>
            </a:r>
            <a:r>
              <a:rPr lang="pt-PT" sz="1400" dirty="0" err="1">
                <a:solidFill>
                  <a:srgbClr val="58595B"/>
                </a:solidFill>
              </a:rPr>
              <a:t>CEs</a:t>
            </a:r>
            <a:endParaRPr lang="pt-PT" sz="1400" dirty="0">
              <a:solidFill>
                <a:srgbClr val="58595B"/>
              </a:solidFill>
            </a:endParaRPr>
          </a:p>
          <a:p>
            <a:pPr>
              <a:lnSpc>
                <a:spcPct val="150000"/>
              </a:lnSpc>
            </a:pPr>
            <a:r>
              <a:rPr lang="pt-PT" sz="1400" dirty="0">
                <a:solidFill>
                  <a:srgbClr val="58595B"/>
                </a:solidFill>
              </a:rPr>
              <a:t>•  Instrumento de apoio a processos de acreditação (A3ES)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solidFill>
                  <a:srgbClr val="58595B"/>
                </a:solidFill>
              </a:rPr>
              <a:t>•  Memória institucional: pareceres anteriores integrados na análise</a:t>
            </a:r>
          </a:p>
        </p:txBody>
      </p:sp>
      <p:sp>
        <p:nvSpPr>
          <p:cNvPr id="18" name="Rectangle 10"/>
          <p:cNvSpPr/>
          <p:nvPr/>
        </p:nvSpPr>
        <p:spPr>
          <a:xfrm>
            <a:off x="6309360" y="1508760"/>
            <a:ext cx="5486400" cy="4892040"/>
          </a:xfrm>
          <a:prstGeom prst="rect">
            <a:avLst/>
          </a:prstGeom>
          <a:solidFill>
            <a:srgbClr val="E8F0F8"/>
          </a:solidFill>
          <a:ln w="19050">
            <a:solidFill>
              <a:srgbClr val="28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2"/>
          <p:cNvSpPr txBox="1"/>
          <p:nvPr/>
        </p:nvSpPr>
        <p:spPr>
          <a:xfrm>
            <a:off x="6492240" y="2057400"/>
            <a:ext cx="5120640" cy="23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177800" algn="l">
              <a:lnSpc>
                <a:spcPct val="114000"/>
              </a:lnSpc>
            </a:pPr>
            <a:r>
              <a:rPr sz="1300" dirty="0">
                <a:solidFill>
                  <a:srgbClr val="58595B"/>
                </a:solidFill>
              </a:rPr>
              <a:t>•  </a:t>
            </a:r>
            <a:r>
              <a:rPr sz="1300" dirty="0" err="1">
                <a:solidFill>
                  <a:srgbClr val="58595B"/>
                </a:solidFill>
              </a:rPr>
              <a:t>Recolha</a:t>
            </a:r>
            <a:r>
              <a:rPr sz="1300" dirty="0">
                <a:solidFill>
                  <a:srgbClr val="58595B"/>
                </a:solidFill>
              </a:rPr>
              <a:t> de feedback </a:t>
            </a:r>
            <a:r>
              <a:rPr sz="1300" dirty="0" err="1">
                <a:solidFill>
                  <a:srgbClr val="58595B"/>
                </a:solidFill>
              </a:rPr>
              <a:t>estruturado</a:t>
            </a:r>
            <a:r>
              <a:rPr sz="1300" dirty="0">
                <a:solidFill>
                  <a:srgbClr val="58595B"/>
                </a:solidFill>
              </a:rPr>
              <a:t> e </a:t>
            </a:r>
            <a:r>
              <a:rPr sz="1300" dirty="0" err="1">
                <a:solidFill>
                  <a:srgbClr val="58595B"/>
                </a:solidFill>
              </a:rPr>
              <a:t>iteração</a:t>
            </a:r>
            <a:endParaRPr lang="pt-PT" sz="1300" dirty="0">
              <a:solidFill>
                <a:srgbClr val="58595B"/>
              </a:solidFill>
            </a:endParaRPr>
          </a:p>
          <a:p>
            <a:pPr marL="355600" indent="-177800" algn="l">
              <a:lnSpc>
                <a:spcPct val="114000"/>
              </a:lnSpc>
            </a:pPr>
            <a:endParaRPr sz="1300" dirty="0">
              <a:solidFill>
                <a:srgbClr val="58595B"/>
              </a:solidFill>
            </a:endParaRPr>
          </a:p>
          <a:p>
            <a:pPr marL="355600" indent="-177800" algn="l">
              <a:lnSpc>
                <a:spcPct val="114000"/>
              </a:lnSpc>
            </a:pPr>
            <a:r>
              <a:rPr sz="1300" dirty="0">
                <a:solidFill>
                  <a:srgbClr val="58595B"/>
                </a:solidFill>
              </a:rPr>
              <a:t>•  </a:t>
            </a:r>
            <a:r>
              <a:rPr sz="1300" dirty="0" err="1">
                <a:solidFill>
                  <a:srgbClr val="58595B"/>
                </a:solidFill>
              </a:rPr>
              <a:t>Integração</a:t>
            </a:r>
            <a:r>
              <a:rPr sz="1300" dirty="0">
                <a:solidFill>
                  <a:srgbClr val="58595B"/>
                </a:solidFill>
              </a:rPr>
              <a:t> </a:t>
            </a:r>
            <a:r>
              <a:rPr lang="pt-PT" sz="1300" dirty="0">
                <a:solidFill>
                  <a:srgbClr val="58595B"/>
                </a:solidFill>
              </a:rPr>
              <a:t>em</a:t>
            </a:r>
            <a:r>
              <a:rPr sz="1300" dirty="0">
                <a:solidFill>
                  <a:srgbClr val="58595B"/>
                </a:solidFill>
              </a:rPr>
              <a:t> dashboard </a:t>
            </a:r>
            <a:r>
              <a:rPr lang="pt-PT" sz="1300" dirty="0">
                <a:solidFill>
                  <a:srgbClr val="58595B"/>
                </a:solidFill>
              </a:rPr>
              <a:t>mais abrangente </a:t>
            </a:r>
            <a:br>
              <a:rPr lang="pt-PT" sz="1300" dirty="0">
                <a:solidFill>
                  <a:srgbClr val="58595B"/>
                </a:solidFill>
              </a:rPr>
            </a:br>
            <a:r>
              <a:rPr lang="pt-PT" sz="1300" dirty="0">
                <a:solidFill>
                  <a:srgbClr val="58595B"/>
                </a:solidFill>
              </a:rPr>
              <a:t>(fichas, relatórios, sumários, avaliações, …)</a:t>
            </a:r>
          </a:p>
          <a:p>
            <a:pPr marL="355600" indent="-177800" algn="l">
              <a:lnSpc>
                <a:spcPct val="114000"/>
              </a:lnSpc>
            </a:pPr>
            <a:endParaRPr sz="1300" dirty="0">
              <a:solidFill>
                <a:srgbClr val="58595B"/>
              </a:solidFill>
            </a:endParaRPr>
          </a:p>
          <a:p>
            <a:pPr marL="355600" indent="-177800" algn="l">
              <a:lnSpc>
                <a:spcPct val="114000"/>
              </a:lnSpc>
            </a:pPr>
            <a:r>
              <a:rPr sz="1300" dirty="0">
                <a:solidFill>
                  <a:srgbClr val="58595B"/>
                </a:solidFill>
              </a:rPr>
              <a:t>•  </a:t>
            </a:r>
            <a:r>
              <a:rPr sz="1300" dirty="0" err="1">
                <a:solidFill>
                  <a:srgbClr val="58595B"/>
                </a:solidFill>
              </a:rPr>
              <a:t>Disponibilização</a:t>
            </a:r>
            <a:r>
              <a:rPr sz="1300" dirty="0">
                <a:solidFill>
                  <a:srgbClr val="58595B"/>
                </a:solidFill>
              </a:rPr>
              <a:t> a </a:t>
            </a:r>
            <a:r>
              <a:rPr sz="1300" dirty="0" err="1">
                <a:solidFill>
                  <a:srgbClr val="58595B"/>
                </a:solidFill>
              </a:rPr>
              <a:t>outras</a:t>
            </a:r>
            <a:r>
              <a:rPr sz="1300" dirty="0">
                <a:solidFill>
                  <a:srgbClr val="58595B"/>
                </a:solidFill>
              </a:rPr>
              <a:t> </a:t>
            </a:r>
            <a:r>
              <a:rPr sz="1300" dirty="0" err="1">
                <a:solidFill>
                  <a:srgbClr val="58595B"/>
                </a:solidFill>
              </a:rPr>
              <a:t>faculdades</a:t>
            </a:r>
            <a:r>
              <a:rPr sz="1300" dirty="0">
                <a:solidFill>
                  <a:srgbClr val="58595B"/>
                </a:solidFill>
              </a:rPr>
              <a:t> da </a:t>
            </a:r>
            <a:r>
              <a:rPr sz="1300" dirty="0" err="1">
                <a:solidFill>
                  <a:srgbClr val="58595B"/>
                </a:solidFill>
              </a:rPr>
              <a:t>U.Porto</a:t>
            </a:r>
            <a:endParaRPr lang="pt-PT" sz="1300" dirty="0">
              <a:solidFill>
                <a:srgbClr val="58595B"/>
              </a:solidFill>
            </a:endParaRPr>
          </a:p>
          <a:p>
            <a:pPr marL="355600" indent="-177800" algn="l">
              <a:lnSpc>
                <a:spcPct val="114000"/>
              </a:lnSpc>
            </a:pPr>
            <a:endParaRPr lang="pt-PT" sz="1300" dirty="0">
              <a:solidFill>
                <a:srgbClr val="58595B"/>
              </a:solidFill>
            </a:endParaRPr>
          </a:p>
          <a:p>
            <a:pPr marL="355600" indent="-177800">
              <a:lnSpc>
                <a:spcPct val="114000"/>
              </a:lnSpc>
            </a:pPr>
            <a:r>
              <a:rPr lang="pt-PT" sz="1300" dirty="0">
                <a:solidFill>
                  <a:srgbClr val="58595B"/>
                </a:solidFill>
              </a:rPr>
              <a:t>•  Mecanismos de gestão e seguimento das ações de melhoria</a:t>
            </a:r>
          </a:p>
          <a:p>
            <a:pPr marL="355600" indent="-177800" algn="l">
              <a:lnSpc>
                <a:spcPct val="114000"/>
              </a:lnSpc>
            </a:pPr>
            <a:endParaRPr lang="pt-PT" sz="1300" dirty="0">
              <a:solidFill>
                <a:srgbClr val="58595B"/>
              </a:solidFill>
            </a:endParaRPr>
          </a:p>
          <a:p>
            <a:pPr marL="355600" indent="-177800" algn="l">
              <a:lnSpc>
                <a:spcPct val="114000"/>
              </a:lnSpc>
            </a:pPr>
            <a:endParaRPr sz="1300" dirty="0">
              <a:solidFill>
                <a:srgbClr val="58595B"/>
              </a:solidFill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5CD32894-CE3E-0CE1-C583-14DE5790939B}"/>
              </a:ext>
            </a:extLst>
          </p:cNvPr>
          <p:cNvSpPr txBox="1"/>
          <p:nvPr/>
        </p:nvSpPr>
        <p:spPr>
          <a:xfrm>
            <a:off x="6492240" y="1645920"/>
            <a:ext cx="5120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1500" b="1" i="0" dirty="0">
                <a:solidFill>
                  <a:schemeClr val="accent1">
                    <a:lumMod val="75000"/>
                  </a:schemeClr>
                </a:solidFill>
              </a:rPr>
              <a:t>Próximos passos</a:t>
            </a:r>
            <a:endParaRPr sz="1500" b="1" i="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26280"/>
            <a:ext cx="12188952" cy="63500"/>
          </a:xfrm>
          <a:prstGeom prst="rect">
            <a:avLst/>
          </a:prstGeom>
          <a:solidFill>
            <a:srgbClr val="28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88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3600" b="1" i="0" dirty="0">
                <a:solidFill>
                  <a:srgbClr val="FFFFFF"/>
                </a:solidFill>
              </a:rPr>
              <a:t>Assistente </a:t>
            </a:r>
            <a:r>
              <a:rPr sz="3600" b="1" i="0" dirty="0" err="1">
                <a:solidFill>
                  <a:srgbClr val="FFFFFF"/>
                </a:solidFill>
              </a:rPr>
              <a:t>está</a:t>
            </a:r>
            <a:r>
              <a:rPr sz="3600" b="1" i="0" dirty="0">
                <a:solidFill>
                  <a:srgbClr val="FFFFFF"/>
                </a:solidFill>
              </a:rPr>
              <a:t> pronto a usar.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8CCE8"/>
                </a:solidFill>
              </a:rPr>
              <a:t>Uma ferramenta desenvolvida na FEUP, para a FEUP.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881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 err="1">
                <a:solidFill>
                  <a:srgbClr val="80C8FF"/>
                </a:solidFill>
              </a:rPr>
              <a:t>Disponível</a:t>
            </a:r>
            <a:r>
              <a:rPr sz="1800" b="0" i="0" dirty="0">
                <a:solidFill>
                  <a:srgbClr val="80C8FF"/>
                </a:solidFill>
              </a:rPr>
              <a:t> em  </a:t>
            </a:r>
            <a:r>
              <a:rPr lang="pt-PT" sz="1800" b="0" i="0" dirty="0" err="1">
                <a:solidFill>
                  <a:srgbClr val="80C8FF"/>
                </a:solidFill>
              </a:rPr>
              <a:t>ce</a:t>
            </a:r>
            <a:r>
              <a:rPr sz="1800" b="0" i="0" dirty="0">
                <a:solidFill>
                  <a:srgbClr val="80C8FF"/>
                </a:solidFill>
              </a:rPr>
              <a:t>.uc-reports.com
Código-</a:t>
            </a:r>
            <a:r>
              <a:rPr sz="1800" b="0" i="0" dirty="0" err="1">
                <a:solidFill>
                  <a:srgbClr val="80C8FF"/>
                </a:solidFill>
              </a:rPr>
              <a:t>fonte</a:t>
            </a:r>
            <a:r>
              <a:rPr sz="1800" b="0" i="0" dirty="0">
                <a:solidFill>
                  <a:srgbClr val="80C8FF"/>
                </a:solidFill>
              </a:rPr>
              <a:t> em   github.com/</a:t>
            </a:r>
            <a:r>
              <a:rPr sz="1800" b="0" i="0" dirty="0" err="1">
                <a:solidFill>
                  <a:srgbClr val="80C8FF"/>
                </a:solidFill>
              </a:rPr>
              <a:t>joaopascoalfariafeup</a:t>
            </a:r>
            <a:r>
              <a:rPr sz="1800" b="0" i="0" dirty="0">
                <a:solidFill>
                  <a:srgbClr val="80C8FF"/>
                </a:solidFill>
              </a:rPr>
              <a:t>/</a:t>
            </a:r>
            <a:r>
              <a:rPr lang="pt-PT" sz="1800" b="0" i="0" dirty="0" err="1">
                <a:solidFill>
                  <a:srgbClr val="80C8FF"/>
                </a:solidFill>
              </a:rPr>
              <a:t>ce</a:t>
            </a:r>
            <a:r>
              <a:rPr sz="1800" b="0" i="0" dirty="0">
                <a:solidFill>
                  <a:srgbClr val="80C8FF"/>
                </a:solidFill>
              </a:rPr>
              <a:t>reports</a:t>
            </a:r>
            <a:endParaRPr lang="pt-PT" sz="1800" b="0" i="0" dirty="0">
              <a:solidFill>
                <a:srgbClr val="80C8FF"/>
              </a:solidFill>
            </a:endParaRPr>
          </a:p>
          <a:p>
            <a:pPr algn="l"/>
            <a:r>
              <a:rPr lang="pt-PT" dirty="0">
                <a:solidFill>
                  <a:srgbClr val="80C8FF"/>
                </a:solidFill>
              </a:rPr>
              <a:t>V1 desenvolvida com Claude </a:t>
            </a:r>
            <a:r>
              <a:rPr lang="pt-PT" dirty="0" err="1">
                <a:solidFill>
                  <a:srgbClr val="80C8FF"/>
                </a:solidFill>
              </a:rPr>
              <a:t>Code</a:t>
            </a:r>
            <a:r>
              <a:rPr lang="pt-PT" dirty="0">
                <a:solidFill>
                  <a:srgbClr val="80C8FF"/>
                </a:solidFill>
              </a:rPr>
              <a:t> em </a:t>
            </a:r>
            <a:r>
              <a:rPr lang="pt-PT" dirty="0" err="1">
                <a:solidFill>
                  <a:srgbClr val="80C8FF"/>
                </a:solidFill>
              </a:rPr>
              <a:t>Python</a:t>
            </a:r>
            <a:r>
              <a:rPr lang="pt-PT" dirty="0">
                <a:solidFill>
                  <a:srgbClr val="80C8FF"/>
                </a:solidFill>
              </a:rPr>
              <a:t> + Shell, 4KLOC, em 9-10/março/2026</a:t>
            </a:r>
            <a:endParaRPr sz="1800" b="0" i="0" dirty="0">
              <a:solidFill>
                <a:srgbClr val="80C8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 dirty="0">
                <a:solidFill>
                  <a:srgbClr val="B8CCE8"/>
                </a:solidFill>
              </a:rPr>
              <a:t>João Pascoal Faria
FEUP</a:t>
            </a:r>
            <a:r>
              <a:rPr lang="pt-PT" sz="1600" dirty="0">
                <a:solidFill>
                  <a:srgbClr val="B8CCE8"/>
                </a:solidFill>
              </a:rPr>
              <a:t> · Melhoria Contínua</a:t>
            </a:r>
            <a:r>
              <a:rPr sz="1600" b="0" i="0" dirty="0">
                <a:solidFill>
                  <a:srgbClr val="B8CCE8"/>
                </a:solidFill>
              </a:rPr>
              <a:t>
jpf@fe.up.pt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754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1694336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1081</Words>
  <Application>Microsoft Office PowerPoint</Application>
  <PresentationFormat>Personalizados</PresentationFormat>
  <Paragraphs>95</Paragraphs>
  <Slides>12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João Pascoal Faria</cp:lastModifiedBy>
  <cp:revision>61</cp:revision>
  <dcterms:created xsi:type="dcterms:W3CDTF">2013-01-27T09:14:16Z</dcterms:created>
  <dcterms:modified xsi:type="dcterms:W3CDTF">2026-03-10T17:23:00Z</dcterms:modified>
  <cp:category/>
</cp:coreProperties>
</file>